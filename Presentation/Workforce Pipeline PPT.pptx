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9"/>
    <p:sldId id="262" r:id="rId8"/>
    <p:sldId id="263" r:id="rId7"/>
    <p:sldId id="264" r:id="rId15"/>
    <p:sldId id="265" r:id="rId16"/>
    <p:sldId id="266" r:id="rId17"/>
    <p:sldId id="267" r:id="rId18"/>
    <p:sldId id="268" r:id="rId1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8.xml"/><Relationship Id="rId8" Type="http://schemas.openxmlformats.org/officeDocument/2006/relationships/slide" Target="slides/slide7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188720"/>
            <a:ext cx="3840480" cy="3840480"/>
          </a:xfrm>
          <a:prstGeom prst="ellipse">
            <a:avLst/>
          </a:prstGeom>
          <a:solidFill>
            <a:srgbClr val="0D7A8A">
              <a:alpha val="32000"/>
            </a:srgbClr>
          </a:solidFill>
          <a:ln w="12700">
            <a:solidFill>
              <a:srgbClr val="0D7A8A">
                <a:alpha val="3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-548640"/>
            <a:ext cx="2377440" cy="2377440"/>
          </a:xfrm>
          <a:prstGeom prst="ellipse">
            <a:avLst/>
          </a:prstGeom>
          <a:solidFill>
            <a:srgbClr val="00C49A">
              <a:alpha val="25000"/>
            </a:srgbClr>
          </a:solidFill>
          <a:ln w="12700">
            <a:solidFill>
              <a:srgbClr val="00C49A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91840"/>
            <a:ext cx="2926080" cy="2926080"/>
          </a:xfrm>
          <a:prstGeom prst="ellipse">
            <a:avLst/>
          </a:prstGeom>
          <a:solidFill>
            <a:srgbClr val="12466E">
              <a:alpha val="45000"/>
            </a:srgbClr>
          </a:solidFill>
          <a:ln w="12700">
            <a:solidFill>
              <a:srgbClr val="12466E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475488"/>
            <a:ext cx="2788920" cy="329184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48056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INTELLIGENCE PLATFORM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84048" y="987552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Pipeline</a:t>
            </a:r>
            <a:endParaRPr lang="en-US" sz="4600" dirty="0"/>
          </a:p>
          <a:p>
            <a:pPr indent="0" marL="0">
              <a:buNone/>
            </a:pPr>
            <a:r>
              <a:rPr lang="en-US" sz="46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Forecasting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84048" y="281635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Talent Shortages · Hiring Timelines · Skill Gaps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" y="3291840"/>
            <a:ext cx="530352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34381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Keshav Agarwal   |   Harsh Tiwari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" y="376732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1CSE22     </a:t>
            </a:r>
            <a:pPr indent="0" marL="0">
              <a:buNone/>
            </a:pPr>
            <a:r>
              <a:rPr lang="en-US" sz="13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Shantanu Bindewari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85546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Industries  ·  25 Records  ·  2022–2026  ·  Workforce Intelligence Platform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9144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4160520" cy="7315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170432"/>
            <a:ext cx="3858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Industries Struggle To Answer…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1208" y="1627632"/>
            <a:ext cx="73152" cy="73152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59105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will we need to hire?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1208" y="1975104"/>
            <a:ext cx="73152" cy="73152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193852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our talent pipeline strong enough?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1208" y="2322576"/>
            <a:ext cx="73152" cy="73152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28600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companies face hiring pressure first?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27448" y="1078992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27448" y="1078992"/>
            <a:ext cx="4160520" cy="73152"/>
          </a:xfrm>
          <a:prstGeom prst="rect">
            <a:avLst/>
          </a:prstGeom>
          <a:solidFill>
            <a:srgbClr val="F4873B"/>
          </a:solidFill>
          <a:ln w="12700">
            <a:solidFill>
              <a:srgbClr val="F487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170432"/>
            <a:ext cx="3858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Students Struggle To Answer…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28616" y="1627632"/>
            <a:ext cx="73152" cy="73152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159105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industries are hiring next?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28616" y="1975104"/>
            <a:ext cx="73152" cy="73152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193852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companies should I target?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928616" y="2322576"/>
            <a:ext cx="73152" cy="73152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228600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ready is my resume for future jobs?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" y="2926080"/>
            <a:ext cx="8503920" cy="457200"/>
          </a:xfrm>
          <a:prstGeom prst="rect">
            <a:avLst/>
          </a:prstGeom>
          <a:solidFill>
            <a:srgbClr val="00C49A">
              <a:alpha val="18000"/>
            </a:srgbClr>
          </a:solidFill>
          <a:ln w="12700">
            <a:solidFill>
              <a:srgbClr val="00C49A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95351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This system bridges that gap — same data, different decisions.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20040" y="3511296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511296"/>
            <a:ext cx="82296" cy="713232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" y="3657600"/>
            <a:ext cx="475488" cy="384048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" y="365760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33272" y="362102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Workforce Risk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33272" y="39136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supply-demand gaps and attrition trends to identify which industries face talent shortages.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27448" y="3511296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27448" y="3511296"/>
            <a:ext cx="82296" cy="713232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73752" y="3657600"/>
            <a:ext cx="475488" cy="384048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3752" y="365760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40680" y="362102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Hiring Timelines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40680" y="39136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hiring velocity data to determine how quickly industries can fill open positions.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431596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4315968"/>
            <a:ext cx="82296" cy="713232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" y="4462272"/>
            <a:ext cx="475488" cy="384048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" y="446227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33272" y="442569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Skill Demand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33272" y="47183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skills in demand per industry and spot emerging skill gaps in the talent pipeline.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27448" y="431596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27448" y="4315968"/>
            <a:ext cx="82296" cy="713232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73752" y="4462272"/>
            <a:ext cx="475488" cy="384048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73752" y="446227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440680" y="442569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Industry &amp; Students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440680" y="47183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workforce data insights with student career planning — same data, different decisions.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9144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ACQUISITION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but deterministic — no random values at runtime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5394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82296" cy="65836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6128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attrition_data.csv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42646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attrition rates per industry (2022–2026)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56048" y="1243584"/>
            <a:ext cx="676656" cy="29260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243584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rows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847088"/>
            <a:ext cx="5394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847088"/>
            <a:ext cx="82296" cy="65836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91109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industry_growth.csv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21762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Sector-level growth rates indicating workforce demand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56048" y="1993392"/>
            <a:ext cx="676656" cy="29260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1993392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rows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596896"/>
            <a:ext cx="5394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596896"/>
            <a:ext cx="82296" cy="65836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66090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internship_data.csv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29260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pipeline and conversion into full-time hires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56048" y="2743200"/>
            <a:ext cx="676656" cy="29260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743200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rows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346704"/>
            <a:ext cx="5394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346704"/>
            <a:ext cx="82296" cy="65836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41071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hiring_velocity.csv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367588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and volume of hiring activity per quarter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56048" y="3493008"/>
            <a:ext cx="676656" cy="29260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3493008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rows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4096512"/>
            <a:ext cx="5394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4096512"/>
            <a:ext cx="82296" cy="65836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16052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company_profiles.csv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920" y="442569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Company-level skill requirements for comparison engine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56048" y="4242816"/>
            <a:ext cx="676656" cy="29260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4242816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rows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989320" y="1097280"/>
            <a:ext cx="1417320" cy="822960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989320" y="115214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5989320" y="16184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525512" y="1097280"/>
            <a:ext cx="1417320" cy="822960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525512" y="115214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7525512" y="16184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Records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989320" y="2066544"/>
            <a:ext cx="1417320" cy="822960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989320" y="212140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5989320" y="25877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(2022–26)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525512" y="2066544"/>
            <a:ext cx="1417320" cy="822960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525512" y="212140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7525512" y="25877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870448" y="3063240"/>
            <a:ext cx="29992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870448" y="3063240"/>
            <a:ext cx="2999232" cy="7315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89320" y="31272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 COVERED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016752" y="3438144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IT / Software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016752" y="3602736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Healthcare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016752" y="3767328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Manufacturing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016752" y="3931920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Electric Vehicles (EV)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016752" y="4096512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Finance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870448" y="4370832"/>
            <a:ext cx="2999232" cy="548640"/>
          </a:xfrm>
          <a:prstGeom prst="rect">
            <a:avLst/>
          </a:prstGeom>
          <a:solidFill>
            <a:srgbClr val="EBF3F8"/>
          </a:solidFill>
          <a:ln w="12700">
            <a:solidFill>
              <a:srgbClr val="D0E3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89320" y="442569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Data Strategy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989320" y="4645152"/>
            <a:ext cx="2816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but logically derived — deterministic, reproducible, and judge-friendly.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9144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– 2026  ·  5 Industries  ·  Key patterns across supply, demand, attrition &amp; hiring velocity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274320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2743200" cy="457200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09728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Supply Analysis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" y="1627632"/>
            <a:ext cx="73152" cy="73152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591056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leads with highest intern intake: 1,005 → 1,512 (2022–26)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" y="1965960"/>
            <a:ext cx="73152" cy="73152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1929384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has lowest conversion rate (~24–31%) despite surge in growth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" y="2304288"/>
            <a:ext cx="73152" cy="73152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2267712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pipeline smallest; avg 540 interns, 31–37% conversion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" y="2642616"/>
            <a:ext cx="73152" cy="73152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2606040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interns moderate; conversion stable at ~35–41%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64408" y="1078992"/>
            <a:ext cx="274320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64408" y="1078992"/>
            <a:ext cx="2743200" cy="4572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92424" y="109728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Demand &amp; Growth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10712" y="1627632"/>
            <a:ext cx="73152" cy="73152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57016" y="1591056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sector shows highest growth: avg 25–30% YoY demand increase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10712" y="1965960"/>
            <a:ext cx="73152" cy="73152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57016" y="1929384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growth steady ~9–13%; attrition highest among all sectors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10712" y="2304288"/>
            <a:ext cx="73152" cy="73152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57016" y="2267712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shows slowest demand growth (~1–5% annually)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10712" y="2642616"/>
            <a:ext cx="73152" cy="73152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57016" y="2606040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demand driven more by attrition than organic growth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08776" y="1078992"/>
            <a:ext cx="274320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08776" y="1078992"/>
            <a:ext cx="2743200" cy="457200"/>
          </a:xfrm>
          <a:prstGeom prst="rect">
            <a:avLst/>
          </a:prstGeom>
          <a:solidFill>
            <a:srgbClr val="F4873B"/>
          </a:solidFill>
          <a:ln w="12700">
            <a:solidFill>
              <a:srgbClr val="F487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36792" y="109728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Attrition Patterns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55080" y="1627632"/>
            <a:ext cx="73152" cy="73152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01384" y="1591056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attrition peaks at 18.8% (2025) — highest sector-wide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55080" y="1965960"/>
            <a:ext cx="73152" cy="73152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01384" y="1929384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has lowest attrition: 4–11% across all years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55080" y="2304288"/>
            <a:ext cx="73152" cy="73152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01384" y="2267712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attrition rising: 10.1% (2022) → 12.1% (2026)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55080" y="2642616"/>
            <a:ext cx="73152" cy="73152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01384" y="2606040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attrition relatively stable: 8.7–11.4% across 5 years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3255264"/>
            <a:ext cx="50749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0040" y="3255264"/>
            <a:ext cx="5074920" cy="73152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31012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VELOCITY  —  Avg. Time to Fill (Days)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84048" y="3639312"/>
            <a:ext cx="4919472" cy="256032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2336" y="36393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536192" y="363931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029968" y="363931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523744" y="363931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017520" y="363931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511296" y="363931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023360" y="36393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84048" y="3913632"/>
            <a:ext cx="4919472" cy="201168"/>
          </a:xfrm>
          <a:prstGeom prst="rect">
            <a:avLst/>
          </a:prstGeom>
          <a:solidFill>
            <a:srgbClr val="F5F9FC"/>
          </a:solidFill>
          <a:ln w="6350">
            <a:solidFill>
              <a:srgbClr val="D0E3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2336" y="39136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536192" y="39136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029968" y="39136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523744" y="39136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017520" y="39136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511296" y="39136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023360" y="39136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Improving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84048" y="4114800"/>
            <a:ext cx="491947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3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2336" y="41148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536192" y="411480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029968" y="411480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523744" y="411480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017520" y="411480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511296" y="411480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023360" y="41148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Stagnant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84048" y="4315968"/>
            <a:ext cx="4919472" cy="201168"/>
          </a:xfrm>
          <a:prstGeom prst="rect">
            <a:avLst/>
          </a:prstGeom>
          <a:solidFill>
            <a:srgbClr val="F5F9FC"/>
          </a:solidFill>
          <a:ln w="6350">
            <a:solidFill>
              <a:srgbClr val="D0E3E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02336" y="43159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536192" y="431596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2029968" y="431596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523744" y="431596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3017520" y="431596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3511296" y="431596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023360" y="43159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Best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84048" y="4517136"/>
            <a:ext cx="491947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3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02336" y="45171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1536192" y="451713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2029968" y="451713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2523744" y="451713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3017520" y="451713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3511296" y="451713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4023360" y="45171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84048" y="4718304"/>
            <a:ext cx="4919472" cy="201168"/>
          </a:xfrm>
          <a:prstGeom prst="rect">
            <a:avLst/>
          </a:prstGeom>
          <a:solidFill>
            <a:srgbClr val="F5F9FC"/>
          </a:solidFill>
          <a:ln w="6350">
            <a:solidFill>
              <a:srgbClr val="D0E3E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02336" y="47183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1536192" y="471830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2029968" y="471830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2523744" y="471830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3017520" y="471830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3511296" y="471830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4023360" y="47183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Improving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5532120" y="3255264"/>
            <a:ext cx="33375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5532120" y="3255264"/>
            <a:ext cx="3337560" cy="73152"/>
          </a:xfrm>
          <a:prstGeom prst="rect">
            <a:avLst/>
          </a:prstGeom>
          <a:solidFill>
            <a:srgbClr val="F4873B"/>
          </a:solidFill>
          <a:ln w="12700">
            <a:solidFill>
              <a:srgbClr val="F4873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669280" y="331012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SKILLS IN DEMAND  (2026)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5650992" y="363931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IT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6693408" y="363931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Python · Cloud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5650992" y="389534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Healthcare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6693408" y="3895344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Care · Nursing · Surgery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5650992" y="415137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Manuf.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6693408" y="4151376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· Supply Chain · Robotics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5650992" y="440740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EV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6693408" y="440740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Tech · Power Electronics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5650992" y="466344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Finance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6693408" y="466344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Mgmt · Fintech · Python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9144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STEPS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· Merging · Normalising · Validating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4160520" cy="7315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" y="1243584"/>
            <a:ext cx="475488" cy="475488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" y="1243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33272" y="1261872"/>
            <a:ext cx="3319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Dataset Merging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4632" y="168249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primary CSVs (attrition, growth, internship) merged on [Industry, Year] keys using pandas. Result: a single unified 25-row master dataframe.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27448" y="1078992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7448" y="1078992"/>
            <a:ext cx="4160520" cy="73152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73752" y="1243584"/>
            <a:ext cx="475488" cy="475488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243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40680" y="1261872"/>
            <a:ext cx="3319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Raw Metric Computation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92040" y="168249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Supply (Raw) = Interns_Intake × Conversion_Rate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Demand (Raw) = Growth_Rate + (Attrition_Rate × 1.5)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249424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249424"/>
            <a:ext cx="4160520" cy="7315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" y="2414016"/>
            <a:ext cx="475488" cy="475488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" y="2414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33272" y="2432304"/>
            <a:ext cx="3319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Percentile Normalisation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4632" y="285292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P5–P95 percentile normalisation applied per industry group. Clips extreme values and scales each metric to 0–100, preventing misleading spikes.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27448" y="2249424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27448" y="2249424"/>
            <a:ext cx="4160520" cy="73152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73752" y="2414016"/>
            <a:ext cx="475488" cy="475488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2414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40680" y="2432304"/>
            <a:ext cx="3319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Missing Value Check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892040" y="285292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zero null values across all merged columns. Confirmed Conversion_Rate bounded [0.24, 0.46] and all Growth/Attrition rates are non-negative.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3419856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419856"/>
            <a:ext cx="4160520" cy="7315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" y="3584448"/>
            <a:ext cx="475488" cy="475488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" y="3584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33272" y="3602736"/>
            <a:ext cx="3319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Outlier Detection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84632" y="402336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 each industry's year-over-year values for sudden anomalies. EV 2026 hiring data flagged as incomplete and excluded from trend analysis.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27448" y="3419856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27448" y="3419856"/>
            <a:ext cx="4160520" cy="73152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73752" y="3584448"/>
            <a:ext cx="475488" cy="475488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73752" y="3584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440680" y="3602736"/>
            <a:ext cx="3319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Data Integrity Validation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4892040" y="402336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consistent row counts post-merge. Zero duplicate [Industry, Year] pairs. All 5 industries × 5 years fully present and analysis-ready.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0040" y="4681728"/>
            <a:ext cx="8503920" cy="329184"/>
          </a:xfrm>
          <a:prstGeom prst="rect">
            <a:avLst/>
          </a:prstGeom>
          <a:solidFill>
            <a:srgbClr val="0D7A8A">
              <a:alpha val="15000"/>
            </a:srgbClr>
          </a:solidFill>
          <a:ln w="12700">
            <a:solidFill>
              <a:srgbClr val="0D7A8A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70001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→  All 5 industries × 5 years fully merged &amp; validated  |  Supply &amp; Demand metrics normalised to 0–100  |  Zero nulls  |  Ready for EDA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77824"/>
            <a:ext cx="9144000" cy="91440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7160"/>
            <a:ext cx="8321040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CORE ANALYTICS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8368"/>
            <a:ext cx="832104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C49A"/>
                </a:solidFill>
                <a:latin typeface="Calibri"/>
              </a:defRPr>
            </a:pPr>
            <a:r>
              <a:t>Rule-based Explainable AI — no black-box models, fully transparent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4160520" cy="160000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4160520" cy="73152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4632" y="1170432"/>
            <a:ext cx="3858768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B2C4A"/>
                </a:solidFill>
                <a:latin typeface="Calibri"/>
              </a:defRPr>
            </a:pPr>
            <a:r>
              <a:t>Workforce Risk Score (0–100)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" y="1554480"/>
            <a:ext cx="3700000" cy="28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D7A8A"/>
                </a:solidFill>
                <a:latin typeface="Calibri"/>
              </a:defRPr>
            </a:pPr>
            <a:r>
              <a:t>Core_Risk = (Demand – Supply) + (Attrition × 15)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1834480"/>
            <a:ext cx="3700000" cy="28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D7A8A"/>
                </a:solidFill>
                <a:latin typeface="Calibri"/>
              </a:defRPr>
            </a:pPr>
            <a:r>
              <a:t>Baseline = 5 + (Attrition × 10) + (Trend × 0.5)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" y="2114480"/>
            <a:ext cx="3700000" cy="28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1A2E3C"/>
                </a:solidFill>
                <a:latin typeface="Calibri"/>
              </a:defRPr>
            </a:pPr>
            <a:r>
              <a:t>Final_Risk = max(Core_Risk, Baseline)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27448" y="1078992"/>
            <a:ext cx="4160520" cy="160000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27448" y="1078992"/>
            <a:ext cx="4160520" cy="73152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92040" y="1170432"/>
            <a:ext cx="3858768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B2C4A"/>
                </a:solidFill>
                <a:latin typeface="Calibri"/>
              </a:defRPr>
            </a:pPr>
            <a:r>
              <a:t>Hiring Pressure Index (HPI)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92040" y="1554480"/>
            <a:ext cx="3700000" cy="28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D7A8A"/>
                </a:solidFill>
                <a:latin typeface="Calibri"/>
              </a:defRPr>
            </a:pPr>
            <a:r>
              <a:t>HPI = (Demand – Supply) + (Attrition × 20) + (Trend × 0.8)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92040" y="1934480"/>
            <a:ext cx="3700000" cy="2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2E3C"/>
                </a:solidFill>
                <a:latin typeface="Calibri"/>
              </a:defRPr>
            </a:pPr>
            <a:r>
              <a:t>1–3 months → Immediate hiring pressure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2134480"/>
            <a:ext cx="3700000" cy="2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2E3C"/>
                </a:solidFill>
                <a:latin typeface="Calibri"/>
              </a:defRPr>
            </a:pPr>
            <a:r>
              <a:t>4–6 months → Near-term hiring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2040" y="2334480"/>
            <a:ext cx="3700000" cy="2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2E3C"/>
                </a:solidFill>
                <a:latin typeface="Calibri"/>
              </a:defRPr>
            </a:pPr>
            <a:r>
              <a:t>6–12 months → Planned hiring cycle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850000"/>
            <a:ext cx="2743200" cy="1078992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2850000"/>
            <a:ext cx="2743200" cy="73152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6344" y="3014592"/>
            <a:ext cx="475488" cy="384048"/>
          </a:xfrm>
          <a:prstGeom prst="ellipse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C49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3272" y="3032880"/>
            <a:ext cx="18932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B2C4A"/>
                </a:solidFill>
                <a:latin typeface="Calibri"/>
              </a:defRPr>
            </a:pPr>
            <a:r>
              <a:t>Percentile Normalisation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" y="3453504"/>
            <a:ext cx="2443200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4A6070"/>
                </a:solidFill>
                <a:latin typeface="Calibri"/>
              </a:defRPr>
            </a:pPr>
            <a:r>
              <a:t>P5–P95 per industry. Clips extremes, scales 0–100. Prevents artificial spikes.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2850000"/>
            <a:ext cx="2743200" cy="1078992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2850000"/>
            <a:ext cx="2743200" cy="73152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346704" y="3014592"/>
            <a:ext cx="475488" cy="384048"/>
          </a:xfrm>
          <a:prstGeom prst="ellipse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C49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13632" y="3032880"/>
            <a:ext cx="18932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B2C4A"/>
                </a:solidFill>
                <a:latin typeface="Calibri"/>
              </a:defRPr>
            </a:pPr>
            <a:r>
              <a:t>Dynamic Baseline Risk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64992" y="3453504"/>
            <a:ext cx="2443200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4A6070"/>
                </a:solidFill>
                <a:latin typeface="Calibri"/>
              </a:defRPr>
            </a:pPr>
            <a:r>
              <a:t>Risk floor varies yearly based on attrition &amp; demand trend — never collapses to zero.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2850000"/>
            <a:ext cx="2743200" cy="1078992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0760" y="2850000"/>
            <a:ext cx="2743200" cy="73152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27064" y="3014592"/>
            <a:ext cx="475488" cy="384048"/>
          </a:xfrm>
          <a:prstGeom prst="ellipse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C49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93992" y="3032880"/>
            <a:ext cx="18932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B2C4A"/>
                </a:solidFill>
                <a:latin typeface="Calibri"/>
              </a:defRPr>
            </a:pPr>
            <a:r>
              <a:t>Risk Factor Decomposition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45352" y="3453504"/>
            <a:ext cx="2443200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4A6070"/>
                </a:solidFill>
                <a:latin typeface="Calibri"/>
              </a:defRPr>
            </a:pPr>
            <a:r>
              <a:t>Each risk score broken into 5 named factors with % contribution and impact direction.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681728"/>
            <a:ext cx="8503920" cy="329184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700016"/>
            <a:ext cx="83210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2C4A"/>
                </a:solidFill>
                <a:latin typeface="Calibri"/>
              </a:defRPr>
            </a:pPr>
            <a:r>
              <a:t>Fully explainable — every number traces back to a documented formula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77824"/>
            <a:ext cx="9144000" cy="91440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7160"/>
            <a:ext cx="8321040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INDUSTRY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8368"/>
            <a:ext cx="832104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C49A"/>
                </a:solidFill>
                <a:latin typeface="Calibri"/>
              </a:defRPr>
            </a:pPr>
            <a:r>
              <a:t>For workforce planners — analyse supply, demand, risk &amp; hiring timelines per sector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4160520" cy="1078992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4160520" cy="73152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6344" y="1243584"/>
            <a:ext cx="475488" cy="384048"/>
          </a:xfrm>
          <a:prstGeom prst="ellipse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C49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33272" y="1261872"/>
            <a:ext cx="33105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B2C4A"/>
                </a:solidFill>
                <a:latin typeface="Calibri"/>
              </a:defRPr>
            </a:pPr>
            <a:r>
              <a:t>Supply vs Demand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1682496"/>
            <a:ext cx="3860520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4A6070"/>
                </a:solidFill>
                <a:latin typeface="Calibri"/>
              </a:defRPr>
            </a:pPr>
            <a:r>
              <a:t>Real-time normalised scores for talent supply and demand with trend charts across 2022–2029.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7448" y="1078992"/>
            <a:ext cx="4160520" cy="1078992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7448" y="1078992"/>
            <a:ext cx="4160520" cy="73152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73752" y="1243584"/>
            <a:ext cx="475488" cy="384048"/>
          </a:xfrm>
          <a:prstGeom prst="ellipse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C49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40680" y="1261872"/>
            <a:ext cx="33105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B2C4A"/>
                </a:solidFill>
                <a:latin typeface="Calibri"/>
              </a:defRPr>
            </a:pPr>
            <a:r>
              <a:t>Workforce Risk 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92040" y="1682496"/>
            <a:ext cx="3860520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4A6070"/>
                </a:solidFill>
                <a:latin typeface="Calibri"/>
              </a:defRPr>
            </a:pPr>
            <a:r>
              <a:t>0–100 risk gauge with Low/Medium/High classification. Dynamic baseline ensures realistic risk floors.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249424"/>
            <a:ext cx="4160520" cy="1078992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249424"/>
            <a:ext cx="4160520" cy="73152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6344" y="2414016"/>
            <a:ext cx="475488" cy="384048"/>
          </a:xfrm>
          <a:prstGeom prst="ellipse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C49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3272" y="2432304"/>
            <a:ext cx="33105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B2C4A"/>
                </a:solidFill>
                <a:latin typeface="Calibri"/>
              </a:defRPr>
            </a:pPr>
            <a:r>
              <a:t>Hiring Surge Prediction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" y="2852928"/>
            <a:ext cx="3860520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4A6070"/>
                </a:solidFill>
                <a:latin typeface="Calibri"/>
              </a:defRPr>
            </a:pPr>
            <a:r>
              <a:t>Predicts when hiring will peak (1–3, 4–6, or 6–12 months) for 2026 planning horizon.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27448" y="2249424"/>
            <a:ext cx="4160520" cy="1078992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27448" y="2249424"/>
            <a:ext cx="4160520" cy="73152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73752" y="2414016"/>
            <a:ext cx="475488" cy="384048"/>
          </a:xfrm>
          <a:prstGeom prst="ellipse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C49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40680" y="2432304"/>
            <a:ext cx="33105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B2C4A"/>
                </a:solidFill>
                <a:latin typeface="Calibri"/>
              </a:defRPr>
            </a:pPr>
            <a:r>
              <a:t>Risk Factor Breakdown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2852928"/>
            <a:ext cx="3860520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4A6070"/>
                </a:solidFill>
                <a:latin typeface="Calibri"/>
              </a:defRPr>
            </a:pPr>
            <a:r>
              <a:t>Decomposes risk into Supply-Demand Gap, Attrition Impact, Demand Momentum, Growth Pressure, and Base Risk.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419856"/>
            <a:ext cx="4160520" cy="1078992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419856"/>
            <a:ext cx="4160520" cy="73152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344" y="3584448"/>
            <a:ext cx="475488" cy="384048"/>
          </a:xfrm>
          <a:prstGeom prst="ellipse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C49A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3272" y="3602736"/>
            <a:ext cx="33105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B2C4A"/>
                </a:solidFill>
                <a:latin typeface="Calibri"/>
              </a:defRPr>
            </a:pPr>
            <a:r>
              <a:t>What-If Simulation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" y="4023360"/>
            <a:ext cx="3860520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4A6070"/>
                </a:solidFill>
                <a:latin typeface="Calibri"/>
              </a:defRPr>
            </a:pPr>
            <a:r>
              <a:t>Adjust attrition, growth, conversion rates via sliders. See real-time risk recalculation.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27448" y="3419856"/>
            <a:ext cx="4160520" cy="1078992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27448" y="3419856"/>
            <a:ext cx="4160520" cy="73152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873752" y="3584448"/>
            <a:ext cx="475488" cy="384048"/>
          </a:xfrm>
          <a:prstGeom prst="ellipse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C49A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40680" y="3602736"/>
            <a:ext cx="33105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B2C4A"/>
                </a:solidFill>
                <a:latin typeface="Calibri"/>
              </a:defRPr>
            </a:pPr>
            <a:r>
              <a:t>Company Summaries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92040" y="4023360"/>
            <a:ext cx="3860520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4A6070"/>
                </a:solidFill>
                <a:latin typeface="Calibri"/>
              </a:defRPr>
            </a:pPr>
            <a:r>
              <a:t>Quick view of all companies in selected industry with risk levels and hiring surge timelines.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681728"/>
            <a:ext cx="8503920" cy="329184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700016"/>
            <a:ext cx="83210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2C4A"/>
                </a:solidFill>
                <a:latin typeface="Calibri"/>
              </a:defRPr>
            </a:pPr>
            <a:r>
              <a:t>INDUSTRY_USER role required — protected via JWT authentication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77824"/>
            <a:ext cx="9144000" cy="91440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7160"/>
            <a:ext cx="8321040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STUDENT &amp; CAREER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8368"/>
            <a:ext cx="832104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C49A"/>
                </a:solidFill>
                <a:latin typeface="Calibri"/>
              </a:defRPr>
            </a:pPr>
            <a:r>
              <a:t>Same data, reframed for job seekers — actionable career guidance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4160520" cy="1078992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4160520" cy="73152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6344" y="1243584"/>
            <a:ext cx="475488" cy="384048"/>
          </a:xfrm>
          <a:prstGeom prst="ellipse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C49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33272" y="1261872"/>
            <a:ext cx="33105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B2C4A"/>
                </a:solidFill>
                <a:latin typeface="Calibri"/>
              </a:defRPr>
            </a:pPr>
            <a:r>
              <a:t>Hiring Outlook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1682496"/>
            <a:ext cx="3860520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4A6070"/>
                </a:solidFill>
                <a:latin typeface="Calibri"/>
              </a:defRPr>
            </a:pPr>
            <a:r>
              <a:t>Granular categories: Excellent, Favorable, Promising, Moderate, Competitive, Niche-only based on risk, demand &amp; growth.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7448" y="1078992"/>
            <a:ext cx="4160520" cy="1078992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7448" y="1078992"/>
            <a:ext cx="4160520" cy="73152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73752" y="1243584"/>
            <a:ext cx="475488" cy="384048"/>
          </a:xfrm>
          <a:prstGeom prst="ellipse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C49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40680" y="1261872"/>
            <a:ext cx="33105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B2C4A"/>
                </a:solidFill>
                <a:latin typeface="Calibri"/>
              </a:defRPr>
            </a:pPr>
            <a:r>
              <a:t>Competition Level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92040" y="1682496"/>
            <a:ext cx="3860520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4A6070"/>
                </a:solidFill>
                <a:latin typeface="Calibri"/>
              </a:defRPr>
            </a:pPr>
            <a:r>
              <a:t>Hyper-Competitive, Selective, Balanced, Growth-led, or High Opportunity — based on supply-demand gap.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249424"/>
            <a:ext cx="4160520" cy="1078992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249424"/>
            <a:ext cx="4160520" cy="73152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6344" y="2414016"/>
            <a:ext cx="475488" cy="384048"/>
          </a:xfrm>
          <a:prstGeom prst="ellipse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C49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3272" y="2432304"/>
            <a:ext cx="33105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B2C4A"/>
                </a:solidFill>
                <a:latin typeface="Calibri"/>
              </a:defRPr>
            </a:pPr>
            <a:r>
              <a:t>Skill Intelligence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" y="2852928"/>
            <a:ext cx="3860520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4A6070"/>
                </a:solidFill>
                <a:latin typeface="Calibri"/>
              </a:defRPr>
            </a:pPr>
            <a:r>
              <a:t>Core, In-Demand, and Future skills per industry with importance levels and reasons.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27448" y="2249424"/>
            <a:ext cx="4160520" cy="1078992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27448" y="2249424"/>
            <a:ext cx="4160520" cy="73152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73752" y="2414016"/>
            <a:ext cx="475488" cy="384048"/>
          </a:xfrm>
          <a:prstGeom prst="ellipse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C49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40680" y="2432304"/>
            <a:ext cx="33105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B2C4A"/>
                </a:solidFill>
                <a:latin typeface="Calibri"/>
              </a:defRPr>
            </a:pPr>
            <a:r>
              <a:t>Career Guidance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2852928"/>
            <a:ext cx="3860520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4A6070"/>
                </a:solidFill>
                <a:latin typeface="Calibri"/>
              </a:defRPr>
            </a:pPr>
            <a:r>
              <a:t>Timing-based prep advice aligned with hiring surge predictions and competition levels.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419856"/>
            <a:ext cx="4160520" cy="1078992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419856"/>
            <a:ext cx="4160520" cy="73152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344" y="3584448"/>
            <a:ext cx="475488" cy="384048"/>
          </a:xfrm>
          <a:prstGeom prst="ellipse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C49A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3272" y="3602736"/>
            <a:ext cx="33105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B2C4A"/>
                </a:solidFill>
                <a:latin typeface="Calibri"/>
              </a:defRPr>
            </a:pPr>
            <a:r>
              <a:t>Industry Switch Suggestions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" y="4023360"/>
            <a:ext cx="3860520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4A6070"/>
                </a:solidFill>
                <a:latin typeface="Calibri"/>
              </a:defRPr>
            </a:pPr>
            <a:r>
              <a:t>Recommends better industries based on demand-to-risk ratio comparison across all 5 sectors.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27448" y="3419856"/>
            <a:ext cx="4160520" cy="1078992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27448" y="3419856"/>
            <a:ext cx="4160520" cy="73152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873752" y="3584448"/>
            <a:ext cx="475488" cy="384048"/>
          </a:xfrm>
          <a:prstGeom prst="ellipse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C49A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40680" y="3602736"/>
            <a:ext cx="33105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B2C4A"/>
                </a:solidFill>
                <a:latin typeface="Calibri"/>
              </a:defRPr>
            </a:pPr>
            <a:r>
              <a:t>Internship Focus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92040" y="4023360"/>
            <a:ext cx="3860520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4A6070"/>
                </a:solidFill>
                <a:latin typeface="Calibri"/>
              </a:defRPr>
            </a:pPr>
            <a:r>
              <a:t>Conversion rate analysis guides whether to target internships or direct entry-level roles.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681728"/>
            <a:ext cx="8503920" cy="329184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700016"/>
            <a:ext cx="83210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2C4A"/>
                </a:solidFill>
                <a:latin typeface="Calibri"/>
              </a:defRPr>
            </a:pPr>
            <a:r>
              <a:t>STUDENT_USER role required — bridges industry data with career planning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77824"/>
            <a:ext cx="9144000" cy="91440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7160"/>
            <a:ext cx="8321040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COMPANY COMPARISON &amp; RESUME ANALYZER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8368"/>
            <a:ext cx="832104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C49A"/>
                </a:solidFill>
                <a:latin typeface="Calibri"/>
              </a:defRPr>
            </a:pPr>
            <a:r>
              <a:t>Targeted tools for students — compare employers, assess resume readiness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8503920" cy="150000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8503920" cy="73152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4632" y="1170432"/>
            <a:ext cx="40000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B2C4A"/>
                </a:solidFill>
                <a:latin typeface="Calibri"/>
              </a:defRPr>
            </a:pPr>
            <a:r>
              <a:t>Company-Wise Comparison Engine</a:t>
            </a:r>
          </a:p>
        </p:txBody>
      </p:sp>
      <p:sp>
        <p:nvSpPr>
          <p:cNvPr id="9" name="Oval 8"/>
          <p:cNvSpPr/>
          <p:nvPr/>
        </p:nvSpPr>
        <p:spPr>
          <a:xfrm>
            <a:off x="484632" y="1636576"/>
            <a:ext cx="73152" cy="73152"/>
          </a:xfrm>
          <a:prstGeom prst="ellipse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" y="1563424"/>
            <a:ext cx="36576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2E3C"/>
                </a:solidFill>
                <a:latin typeface="Calibri"/>
              </a:defRPr>
            </a:pPr>
            <a:r>
              <a:t>Compare up to 5 companies within same industry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1936576"/>
            <a:ext cx="73152" cy="73152"/>
          </a:xfrm>
          <a:prstGeom prst="ellipse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863424"/>
            <a:ext cx="36576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2E3C"/>
                </a:solidFill>
                <a:latin typeface="Calibri"/>
              </a:defRPr>
            </a:pPr>
            <a:r>
              <a:t>P5–P95 normalisation at company level for fair scoring</a:t>
            </a:r>
          </a:p>
        </p:txBody>
      </p:sp>
      <p:sp>
        <p:nvSpPr>
          <p:cNvPr id="13" name="Oval 12"/>
          <p:cNvSpPr/>
          <p:nvPr/>
        </p:nvSpPr>
        <p:spPr>
          <a:xfrm>
            <a:off x="4727448" y="1636576"/>
            <a:ext cx="73152" cy="73152"/>
          </a:xfrm>
          <a:prstGeom prst="ellipse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73752" y="1563424"/>
            <a:ext cx="36576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2E3C"/>
                </a:solidFill>
                <a:latin typeface="Calibri"/>
              </a:defRPr>
            </a:pPr>
            <a:r>
              <a:t>Deterministic metrics derived from industry baselines via seed</a:t>
            </a:r>
          </a:p>
        </p:txBody>
      </p:sp>
      <p:sp>
        <p:nvSpPr>
          <p:cNvPr id="15" name="Oval 14"/>
          <p:cNvSpPr/>
          <p:nvPr/>
        </p:nvSpPr>
        <p:spPr>
          <a:xfrm>
            <a:off x="4727448" y="1936576"/>
            <a:ext cx="73152" cy="73152"/>
          </a:xfrm>
          <a:prstGeom prst="ellipse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73752" y="1863424"/>
            <a:ext cx="36576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2E3C"/>
                </a:solidFill>
                <a:latin typeface="Calibri"/>
              </a:defRPr>
            </a:pPr>
            <a:r>
              <a:t>Supply, Demand, Risk, Attrition &amp; Hiring Surge per company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700000"/>
            <a:ext cx="8503920" cy="190000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700000"/>
            <a:ext cx="8503920" cy="73152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" y="2792000"/>
            <a:ext cx="40000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B2C4A"/>
                </a:solidFill>
                <a:latin typeface="Calibri"/>
              </a:defRPr>
            </a:pPr>
            <a:r>
              <a:t>Resume Analyzer (ATS Intelligence)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0000" y="3200000"/>
            <a:ext cx="2600000" cy="1078992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0000" y="3200000"/>
            <a:ext cx="2600000" cy="73152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46304" y="3364592"/>
            <a:ext cx="475488" cy="384048"/>
          </a:xfrm>
          <a:prstGeom prst="ellipse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C49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13232" y="3382880"/>
            <a:ext cx="17500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B2C4A"/>
                </a:solidFill>
                <a:latin typeface="Calibri"/>
              </a:defRPr>
            </a:pPr>
            <a:r>
              <a:t>ATS Match Score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4592" y="3803504"/>
            <a:ext cx="2300000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4A6070"/>
                </a:solidFill>
                <a:latin typeface="Calibri"/>
              </a:defRPr>
            </a:pPr>
            <a:r>
              <a:t>Weighted scoring: Core Skills (60%) + Industry Skills (30%) + Future Skills (10%). Score 0–100.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50000" y="3200000"/>
            <a:ext cx="2600000" cy="1078992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50000" y="3200000"/>
            <a:ext cx="2600000" cy="73152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296304" y="3364592"/>
            <a:ext cx="475488" cy="384048"/>
          </a:xfrm>
          <a:prstGeom prst="ellipse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C49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63232" y="3382880"/>
            <a:ext cx="17500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B2C4A"/>
                </a:solidFill>
                <a:latin typeface="Calibri"/>
              </a:defRPr>
            </a:pPr>
            <a:r>
              <a:t>Skill Gap Detection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14592" y="3803504"/>
            <a:ext cx="2300000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4A6070"/>
                </a:solidFill>
                <a:latin typeface="Calibri"/>
              </a:defRPr>
            </a:pPr>
            <a:r>
              <a:t>Three gap categories: Critical (job-specific), Industry Alignment, and Future Readiness gaps.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00000" y="3200000"/>
            <a:ext cx="2600000" cy="1078992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00000" y="3200000"/>
            <a:ext cx="2600000" cy="73152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046304" y="3364592"/>
            <a:ext cx="475488" cy="384048"/>
          </a:xfrm>
          <a:prstGeom prst="ellipse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C49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13232" y="3382880"/>
            <a:ext cx="17500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B2C4A"/>
                </a:solidFill>
                <a:latin typeface="Calibri"/>
              </a:defRPr>
            </a:pPr>
            <a:r>
              <a:t>Smart Recommendations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64592" y="3803504"/>
            <a:ext cx="2300000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4A6070"/>
                </a:solidFill>
                <a:latin typeface="Calibri"/>
              </a:defRPr>
            </a:pPr>
            <a:r>
              <a:t>Rule-based guidance on which skills to prioritise, aligned with 2026 hiring trends.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681728"/>
            <a:ext cx="8503920" cy="329184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700016"/>
            <a:ext cx="83210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2C4A"/>
                </a:solidFill>
                <a:latin typeface="Calibri"/>
              </a:defRPr>
            </a:pPr>
            <a:r>
              <a:t>Upload PDF resume → instant analysis against industry-specific job requirements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77824"/>
            <a:ext cx="9144000" cy="91440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7160"/>
            <a:ext cx="8321040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SYSTEM ARCHITECTURE &amp; 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8368"/>
            <a:ext cx="832104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C49A"/>
                </a:solidFill>
                <a:latin typeface="Calibri"/>
              </a:defRPr>
            </a:pPr>
            <a:r>
              <a:t>Full-stack application with REST API, role-based access, and caching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5394960" cy="150000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5394960" cy="73152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4632" y="1170432"/>
            <a:ext cx="5000000" cy="3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B2C4A"/>
                </a:solidFill>
                <a:latin typeface="Calibri"/>
              </a:defRPr>
            </a:pPr>
            <a:r>
              <a:t>Architecture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" y="1500000"/>
            <a:ext cx="5000000" cy="2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2E3C"/>
                </a:solidFill>
                <a:latin typeface="Calibri"/>
              </a:defRPr>
            </a:pPr>
            <a:r>
              <a:t>User (Browser)  →  React + TypeScript + Tailwind  →  REST API (JSON)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1750000"/>
            <a:ext cx="5000000" cy="2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2E3C"/>
                </a:solidFill>
                <a:latin typeface="Calibri"/>
              </a:defRPr>
            </a:pPr>
            <a:r>
              <a:t>→  FastAPI (Python)  →  Analytics Engine  →  SQLite / PostgreSQL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" y="2050000"/>
            <a:ext cx="5000000" cy="2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D7A8A"/>
                </a:solidFill>
                <a:latin typeface="Calibri"/>
              </a:defRPr>
            </a:pPr>
            <a:r>
              <a:t>Server pre-warms cache on startup for instant responses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1078992"/>
            <a:ext cx="1417320" cy="70000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100000"/>
            <a:ext cx="1417320" cy="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C49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500000"/>
            <a:ext cx="1417320" cy="2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API Endpoints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25512" y="1078992"/>
            <a:ext cx="1417320" cy="70000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25512" y="1100000"/>
            <a:ext cx="1417320" cy="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C49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25512" y="1500000"/>
            <a:ext cx="1417320" cy="2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Core Modules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700000"/>
            <a:ext cx="2743200" cy="1078992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700000"/>
            <a:ext cx="2743200" cy="73152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6344" y="2864592"/>
            <a:ext cx="475488" cy="384048"/>
          </a:xfrm>
          <a:prstGeom prst="ellipse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C49A"/>
                </a:solidFill>
                <a:latin typeface="Calibri"/>
              </a:defRPr>
            </a:pPr>
            <a:r>
              <a:t>FE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3272" y="2882880"/>
            <a:ext cx="18932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B2C4A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" y="3303504"/>
            <a:ext cx="2443200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4A6070"/>
                </a:solidFill>
                <a:latin typeface="Calibri"/>
              </a:defRPr>
            </a:pPr>
            <a:r>
              <a:t>React + TypeScript, Tailwind CSS, Recharts for data visualisation. Vite build system.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2700000"/>
            <a:ext cx="2743200" cy="1078992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0" y="2700000"/>
            <a:ext cx="2743200" cy="73152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46704" y="2864592"/>
            <a:ext cx="475488" cy="384048"/>
          </a:xfrm>
          <a:prstGeom prst="ellipse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C49A"/>
                </a:solidFill>
                <a:latin typeface="Calibri"/>
              </a:defRPr>
            </a:pPr>
            <a:r>
              <a:t>BE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13632" y="2882880"/>
            <a:ext cx="18932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B2C4A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64992" y="3303504"/>
            <a:ext cx="2443200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4A6070"/>
                </a:solidFill>
                <a:latin typeface="Calibri"/>
              </a:defRPr>
            </a:pPr>
            <a:r>
              <a:t>FastAPI (Python), Pydantic validation, SQLAlchemy ORM. Uvicorn ASGI server.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2700000"/>
            <a:ext cx="2743200" cy="1078992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80760" y="2700000"/>
            <a:ext cx="2743200" cy="73152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227064" y="2864592"/>
            <a:ext cx="475488" cy="384048"/>
          </a:xfrm>
          <a:prstGeom prst="ellipse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C49A"/>
                </a:solidFill>
                <a:latin typeface="Calibri"/>
              </a:defRPr>
            </a:pPr>
            <a:r>
              <a:t>DB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93992" y="2882880"/>
            <a:ext cx="18932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B2C4A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5352" y="3303504"/>
            <a:ext cx="2443200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4A6070"/>
                </a:solidFill>
                <a:latin typeface="Calibri"/>
              </a:defRPr>
            </a:pPr>
            <a:r>
              <a:t>SQLite for development, PostgreSQL production-ready. User auth stored in users.db.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870000"/>
            <a:ext cx="4160520" cy="90000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3870000"/>
            <a:ext cx="4160520" cy="73152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66344" y="4034592"/>
            <a:ext cx="475488" cy="384048"/>
          </a:xfrm>
          <a:prstGeom prst="ellipse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C49A"/>
                </a:solidFill>
                <a:latin typeface="Calibri"/>
              </a:defRPr>
            </a:pPr>
            <a:r>
              <a:t>ML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3272" y="4052880"/>
            <a:ext cx="33105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B2C4A"/>
                </a:solidFill>
                <a:latin typeface="Calibri"/>
              </a:defRPr>
            </a:pPr>
            <a:r>
              <a:t>Trend Forecasting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" y="4473504"/>
            <a:ext cx="3860520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4A6070"/>
                </a:solidFill>
                <a:latin typeface="Calibri"/>
              </a:defRPr>
            </a:pPr>
            <a:r>
              <a:t>LinearRegression for trend extrapolation to 2027–2029. Better future believability than RandomForest.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27448" y="3870000"/>
            <a:ext cx="4160520" cy="90000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27448" y="3870000"/>
            <a:ext cx="4160520" cy="73152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873752" y="4034592"/>
            <a:ext cx="475488" cy="384048"/>
          </a:xfrm>
          <a:prstGeom prst="ellipse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C49A"/>
                </a:solidFill>
                <a:latin typeface="Calibri"/>
              </a:defRPr>
            </a:pPr>
            <a:r>
              <a:t>PY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40680" y="4052880"/>
            <a:ext cx="33105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B2C4A"/>
                </a:solidFill>
                <a:latin typeface="Calibri"/>
              </a:defRPr>
            </a:pPr>
            <a:r>
              <a:t>Analytics Libraries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92040" y="4473504"/>
            <a:ext cx="3860520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4A6070"/>
                </a:solidFill>
                <a:latin typeface="Calibri"/>
              </a:defRPr>
            </a:pPr>
            <a:r>
              <a:t>pandas, numpy, scikit-learn, PyPDF2 for resume parsing. All computation server-side.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77824"/>
            <a:ext cx="9144000" cy="91440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7160"/>
            <a:ext cx="8321040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SECURITY &amp; ROLE-BASED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8368"/>
            <a:ext cx="832104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C49A"/>
                </a:solidFill>
                <a:latin typeface="Calibri"/>
              </a:defRPr>
            </a:pPr>
            <a:r>
              <a:t>JWT authentication with role-based endpoint protection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4160520" cy="130000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4160520" cy="73152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4632" y="1170432"/>
            <a:ext cx="3858768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B2C4A"/>
                </a:solidFill>
                <a:latin typeface="Calibri"/>
              </a:defRPr>
            </a:pPr>
            <a:r>
              <a:t>INDUSTRY_USER Role</a:t>
            </a:r>
          </a:p>
        </p:txBody>
      </p:sp>
      <p:sp>
        <p:nvSpPr>
          <p:cNvPr id="9" name="Oval 8"/>
          <p:cNvSpPr/>
          <p:nvPr/>
        </p:nvSpPr>
        <p:spPr>
          <a:xfrm>
            <a:off x="484632" y="1636576"/>
            <a:ext cx="73152" cy="73152"/>
          </a:xfrm>
          <a:prstGeom prst="ellipse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" y="1563424"/>
            <a:ext cx="36576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2E3C"/>
                </a:solidFill>
                <a:latin typeface="Calibri"/>
              </a:defRPr>
            </a:pPr>
            <a:r>
              <a:t>Access to Industry Dashboard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1936576"/>
            <a:ext cx="73152" cy="73152"/>
          </a:xfrm>
          <a:prstGeom prst="ellipse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863424"/>
            <a:ext cx="36576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2E3C"/>
                </a:solidFill>
                <a:latin typeface="Calibri"/>
              </a:defRPr>
            </a:pPr>
            <a:r>
              <a:t>What-If Simulation controls</a:t>
            </a:r>
          </a:p>
        </p:txBody>
      </p:sp>
      <p:sp>
        <p:nvSpPr>
          <p:cNvPr id="13" name="Oval 12"/>
          <p:cNvSpPr/>
          <p:nvPr/>
        </p:nvSpPr>
        <p:spPr>
          <a:xfrm>
            <a:off x="484632" y="2086576"/>
            <a:ext cx="73152" cy="73152"/>
          </a:xfrm>
          <a:prstGeom prst="ellipse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" y="2013424"/>
            <a:ext cx="36576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2E3C"/>
                </a:solidFill>
                <a:latin typeface="Calibri"/>
              </a:defRPr>
            </a:pPr>
            <a:r>
              <a:t>View company risk summaries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27448" y="1078992"/>
            <a:ext cx="4160520" cy="130000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27448" y="1078992"/>
            <a:ext cx="4160520" cy="73152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92040" y="1170432"/>
            <a:ext cx="3858768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B2C4A"/>
                </a:solidFill>
                <a:latin typeface="Calibri"/>
              </a:defRPr>
            </a:pPr>
            <a:r>
              <a:t>STUDENT_USER Role</a:t>
            </a:r>
          </a:p>
        </p:txBody>
      </p:sp>
      <p:sp>
        <p:nvSpPr>
          <p:cNvPr id="18" name="Oval 17"/>
          <p:cNvSpPr/>
          <p:nvPr/>
        </p:nvSpPr>
        <p:spPr>
          <a:xfrm>
            <a:off x="4892040" y="1636576"/>
            <a:ext cx="73152" cy="73152"/>
          </a:xfrm>
          <a:prstGeom prst="ellipse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38344" y="1563424"/>
            <a:ext cx="36576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2E3C"/>
                </a:solidFill>
                <a:latin typeface="Calibri"/>
              </a:defRPr>
            </a:pPr>
            <a:r>
              <a:t>Student Dashboard &amp; Career Intelligence</a:t>
            </a:r>
          </a:p>
        </p:txBody>
      </p:sp>
      <p:sp>
        <p:nvSpPr>
          <p:cNvPr id="20" name="Oval 19"/>
          <p:cNvSpPr/>
          <p:nvPr/>
        </p:nvSpPr>
        <p:spPr>
          <a:xfrm>
            <a:off x="4892040" y="1936576"/>
            <a:ext cx="73152" cy="73152"/>
          </a:xfrm>
          <a:prstGeom prst="ellipse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38344" y="1863424"/>
            <a:ext cx="36576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2E3C"/>
                </a:solidFill>
                <a:latin typeface="Calibri"/>
              </a:defRPr>
            </a:pPr>
            <a:r>
              <a:t>Company Comparison tool</a:t>
            </a:r>
          </a:p>
        </p:txBody>
      </p:sp>
      <p:sp>
        <p:nvSpPr>
          <p:cNvPr id="22" name="Oval 21"/>
          <p:cNvSpPr/>
          <p:nvPr/>
        </p:nvSpPr>
        <p:spPr>
          <a:xfrm>
            <a:off x="4892040" y="2086576"/>
            <a:ext cx="73152" cy="73152"/>
          </a:xfrm>
          <a:prstGeom prst="ellipse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38344" y="2013424"/>
            <a:ext cx="36576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2E3C"/>
                </a:solidFill>
                <a:latin typeface="Calibri"/>
              </a:defRPr>
            </a:pPr>
            <a:r>
              <a:t>Resume Analyzer (upload &amp; analyse)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550000"/>
            <a:ext cx="2743200" cy="1078992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2550000"/>
            <a:ext cx="2743200" cy="73152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6344" y="2714592"/>
            <a:ext cx="475488" cy="384048"/>
          </a:xfrm>
          <a:prstGeom prst="ellipse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C49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3272" y="2732880"/>
            <a:ext cx="18932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B2C4A"/>
                </a:solidFill>
                <a:latin typeface="Calibri"/>
              </a:defRPr>
            </a:pPr>
            <a:r>
              <a:t>JWT Tokens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" y="3153504"/>
            <a:ext cx="2443200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4A6070"/>
                </a:solidFill>
                <a:latin typeface="Calibri"/>
              </a:defRPr>
            </a:pPr>
            <a:r>
              <a:t>HS256 algorithm, 8-hour expiry. Email + role encoded in payload.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2550000"/>
            <a:ext cx="2743200" cy="1078992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2550000"/>
            <a:ext cx="2743200" cy="73152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346704" y="2714592"/>
            <a:ext cx="475488" cy="384048"/>
          </a:xfrm>
          <a:prstGeom prst="ellipse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C49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13632" y="2732880"/>
            <a:ext cx="18932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B2C4A"/>
                </a:solidFill>
                <a:latin typeface="Calibri"/>
              </a:defRPr>
            </a:pPr>
            <a:r>
              <a:t>Password Hashing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64992" y="3153504"/>
            <a:ext cx="2443200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4A6070"/>
                </a:solidFill>
                <a:latin typeface="Calibri"/>
              </a:defRPr>
            </a:pPr>
            <a:r>
              <a:t>SHA-256 with salt. Secure credential storage in SQLite.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2550000"/>
            <a:ext cx="2743200" cy="1078992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80760" y="2550000"/>
            <a:ext cx="2743200" cy="73152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227064" y="2714592"/>
            <a:ext cx="475488" cy="384048"/>
          </a:xfrm>
          <a:prstGeom prst="ellipse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C49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93992" y="2732880"/>
            <a:ext cx="18932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B2C4A"/>
                </a:solidFill>
                <a:latin typeface="Calibri"/>
              </a:defRPr>
            </a:pPr>
            <a:r>
              <a:t>Endpoint Guards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45352" y="3153504"/>
            <a:ext cx="2443200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4A6070"/>
                </a:solidFill>
                <a:latin typeface="Calibri"/>
              </a:defRPr>
            </a:pPr>
            <a:r>
              <a:t>role_required() decorator protects each API route by allowed roles.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3750000"/>
            <a:ext cx="8503920" cy="80000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0040" y="3750000"/>
            <a:ext cx="8503920" cy="73152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4632" y="3842000"/>
            <a:ext cx="8000000" cy="3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B2C4A"/>
                </a:solidFill>
                <a:latin typeface="Calibri"/>
              </a:defRPr>
            </a:pPr>
            <a:r>
              <a:t>API Security Architecture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4632" y="4100000"/>
            <a:ext cx="8000000" cy="3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4A6070"/>
                </a:solidFill>
                <a:latin typeface="Calibri"/>
              </a:defRPr>
            </a:pPr>
            <a:r>
              <a:t>Register → /auth/register (email + password + role)  |  Login → /auth/token (returns JWT)  |  All data endpoints require Bearer token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77824"/>
            <a:ext cx="9144000" cy="91440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7160"/>
            <a:ext cx="8321040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CONTRIBUTION OF EACH TEAM MEMBER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8368"/>
            <a:ext cx="832104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C49A"/>
                </a:solidFill>
                <a:latin typeface="Calibri"/>
              </a:defRPr>
            </a:pPr>
            <a:r>
              <a:t>Collaborative effort — responsibilities clearly distributed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4160520" cy="390000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82296" cy="3900000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4160520" cy="804672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1115568"/>
            <a:ext cx="621792" cy="621792"/>
          </a:xfrm>
          <a:prstGeom prst="ellipse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B2C4A"/>
                </a:solidFill>
                <a:latin typeface="Calibri"/>
              </a:defRPr>
            </a:pPr>
            <a:r>
              <a:t>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1133856"/>
            <a:ext cx="315468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Keshav Agarwal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4440" y="1490472"/>
            <a:ext cx="315468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00C49A"/>
                </a:solidFill>
                <a:latin typeface="Calibri"/>
              </a:defRPr>
            </a:pPr>
            <a:r>
              <a:t>Roll No. 25SCS1003001000 · 1CSE22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65960"/>
            <a:ext cx="3867912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B2C4A"/>
                </a:solidFill>
                <a:latin typeface="Calibri"/>
              </a:defRPr>
            </a:pPr>
            <a:r>
              <a:t>Contributions:</a:t>
            </a:r>
          </a:p>
        </p:txBody>
      </p:sp>
      <p:sp>
        <p:nvSpPr>
          <p:cNvPr id="13" name="Oval 12"/>
          <p:cNvSpPr/>
          <p:nvPr/>
        </p:nvSpPr>
        <p:spPr>
          <a:xfrm>
            <a:off x="521208" y="2322576"/>
            <a:ext cx="73152" cy="73152"/>
          </a:xfrm>
          <a:prstGeom prst="ellipse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" y="2249424"/>
            <a:ext cx="36576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2E3C"/>
                </a:solidFill>
                <a:latin typeface="Calibri"/>
              </a:defRPr>
            </a:pPr>
            <a:r>
              <a:t>Dataset design — all 5 CSV schemas &amp; synthetic values</a:t>
            </a:r>
          </a:p>
        </p:txBody>
      </p:sp>
      <p:sp>
        <p:nvSpPr>
          <p:cNvPr id="15" name="Oval 14"/>
          <p:cNvSpPr/>
          <p:nvPr/>
        </p:nvSpPr>
        <p:spPr>
          <a:xfrm>
            <a:off x="521208" y="2651760"/>
            <a:ext cx="73152" cy="73152"/>
          </a:xfrm>
          <a:prstGeom prst="ellipse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" y="2578608"/>
            <a:ext cx="36576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2E3C"/>
                </a:solidFill>
                <a:latin typeface="Calibri"/>
              </a:defRPr>
            </a:pPr>
            <a:r>
              <a:t>Full backend: FastAPI, industry_analysis, company_analysis</a:t>
            </a:r>
          </a:p>
        </p:txBody>
      </p:sp>
      <p:sp>
        <p:nvSpPr>
          <p:cNvPr id="17" name="Oval 16"/>
          <p:cNvSpPr/>
          <p:nvPr/>
        </p:nvSpPr>
        <p:spPr>
          <a:xfrm>
            <a:off x="521208" y="2980944"/>
            <a:ext cx="73152" cy="73152"/>
          </a:xfrm>
          <a:prstGeom prst="ellipse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2907792"/>
            <a:ext cx="36576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2E3C"/>
                </a:solidFill>
                <a:latin typeface="Calibri"/>
              </a:defRPr>
            </a:pPr>
            <a:r>
              <a:t>Resume Analyzer engine with ATS scoring logic</a:t>
            </a:r>
          </a:p>
        </p:txBody>
      </p:sp>
      <p:sp>
        <p:nvSpPr>
          <p:cNvPr id="19" name="Oval 18"/>
          <p:cNvSpPr/>
          <p:nvPr/>
        </p:nvSpPr>
        <p:spPr>
          <a:xfrm>
            <a:off x="521208" y="3310128"/>
            <a:ext cx="73152" cy="73152"/>
          </a:xfrm>
          <a:prstGeom prst="ellipse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" y="3236976"/>
            <a:ext cx="36576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2E3C"/>
                </a:solidFill>
                <a:latin typeface="Calibri"/>
              </a:defRPr>
            </a:pPr>
            <a:r>
              <a:t>P5–P95 normalisation &amp; risk score formulas</a:t>
            </a:r>
          </a:p>
        </p:txBody>
      </p:sp>
      <p:sp>
        <p:nvSpPr>
          <p:cNvPr id="21" name="Oval 20"/>
          <p:cNvSpPr/>
          <p:nvPr/>
        </p:nvSpPr>
        <p:spPr>
          <a:xfrm>
            <a:off x="521208" y="3639312"/>
            <a:ext cx="73152" cy="73152"/>
          </a:xfrm>
          <a:prstGeom prst="ellipse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" y="3566160"/>
            <a:ext cx="36576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2E3C"/>
                </a:solidFill>
                <a:latin typeface="Calibri"/>
              </a:defRPr>
            </a:pPr>
            <a:r>
              <a:t>JWT authentication &amp; RBAC implementation</a:t>
            </a:r>
          </a:p>
        </p:txBody>
      </p:sp>
      <p:sp>
        <p:nvSpPr>
          <p:cNvPr id="23" name="Oval 22"/>
          <p:cNvSpPr/>
          <p:nvPr/>
        </p:nvSpPr>
        <p:spPr>
          <a:xfrm>
            <a:off x="521208" y="3968496"/>
            <a:ext cx="73152" cy="73152"/>
          </a:xfrm>
          <a:prstGeom prst="ellipse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7512" y="3895344"/>
            <a:ext cx="36576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2E3C"/>
                </a:solidFill>
                <a:latin typeface="Calibri"/>
              </a:defRPr>
            </a:pPr>
            <a:r>
              <a:t>Frontend: React + TypeScript dashboard pages</a:t>
            </a:r>
          </a:p>
        </p:txBody>
      </p:sp>
      <p:sp>
        <p:nvSpPr>
          <p:cNvPr id="25" name="Oval 24"/>
          <p:cNvSpPr/>
          <p:nvPr/>
        </p:nvSpPr>
        <p:spPr>
          <a:xfrm>
            <a:off x="521208" y="4297680"/>
            <a:ext cx="73152" cy="73152"/>
          </a:xfrm>
          <a:prstGeom prst="ellipse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7512" y="4224528"/>
            <a:ext cx="36576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2E3C"/>
                </a:solidFill>
                <a:latin typeface="Calibri"/>
              </a:defRPr>
            </a:pPr>
            <a:r>
              <a:t>Caching, performance optimisation &amp; deployment</a:t>
            </a:r>
          </a:p>
        </p:txBody>
      </p:sp>
      <p:sp>
        <p:nvSpPr>
          <p:cNvPr id="27" name="Oval 26"/>
          <p:cNvSpPr/>
          <p:nvPr/>
        </p:nvSpPr>
        <p:spPr>
          <a:xfrm>
            <a:off x="521208" y="4626864"/>
            <a:ext cx="73152" cy="73152"/>
          </a:xfrm>
          <a:prstGeom prst="ellipse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7512" y="4553712"/>
            <a:ext cx="36576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2E3C"/>
                </a:solidFill>
                <a:latin typeface="Calibri"/>
              </a:defRPr>
            </a:pPr>
            <a:r>
              <a:t>Technical documentation, README &amp; code comments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27448" y="1051560"/>
            <a:ext cx="4160520" cy="390000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27448" y="1051560"/>
            <a:ext cx="82296" cy="3900000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27448" y="1051560"/>
            <a:ext cx="4160520" cy="804672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10328" y="1115568"/>
            <a:ext cx="621792" cy="621792"/>
          </a:xfrm>
          <a:prstGeom prst="ellipse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B2C4A"/>
                </a:solidFill>
                <a:latin typeface="Calibri"/>
              </a:defRPr>
            </a:pPr>
            <a:r>
              <a:t>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41848" y="1133856"/>
            <a:ext cx="315468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Harsh Tiwari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41848" y="1490472"/>
            <a:ext cx="315468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00C49A"/>
                </a:solidFill>
                <a:latin typeface="Calibri"/>
              </a:defRPr>
            </a:pPr>
            <a:r>
              <a:t>Roll No. 25SCS1003000469 · 1CSE22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10328" y="1965960"/>
            <a:ext cx="3867912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D7A8A"/>
                </a:solidFill>
                <a:latin typeface="Calibri"/>
              </a:defRPr>
            </a:pPr>
            <a:r>
              <a:t>Contributions:</a:t>
            </a:r>
          </a:p>
        </p:txBody>
      </p:sp>
      <p:sp>
        <p:nvSpPr>
          <p:cNvPr id="36" name="Oval 35"/>
          <p:cNvSpPr/>
          <p:nvPr/>
        </p:nvSpPr>
        <p:spPr>
          <a:xfrm>
            <a:off x="4928616" y="2322576"/>
            <a:ext cx="73152" cy="73152"/>
          </a:xfrm>
          <a:prstGeom prst="ellipse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74920" y="2249424"/>
            <a:ext cx="36576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2E3C"/>
                </a:solidFill>
                <a:latin typeface="Calibri"/>
              </a:defRPr>
            </a:pPr>
            <a:r>
              <a:t>Project ideation, problem framing &amp; scope definition</a:t>
            </a:r>
          </a:p>
        </p:txBody>
      </p:sp>
      <p:sp>
        <p:nvSpPr>
          <p:cNvPr id="38" name="Oval 37"/>
          <p:cNvSpPr/>
          <p:nvPr/>
        </p:nvSpPr>
        <p:spPr>
          <a:xfrm>
            <a:off x="4928616" y="2651760"/>
            <a:ext cx="73152" cy="73152"/>
          </a:xfrm>
          <a:prstGeom prst="ellipse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74920" y="2578608"/>
            <a:ext cx="36576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2E3C"/>
                </a:solidFill>
                <a:latin typeface="Calibri"/>
              </a:defRPr>
            </a:pPr>
            <a:r>
              <a:t>Requirement gathering — Industry vs Student use-cases</a:t>
            </a:r>
          </a:p>
        </p:txBody>
      </p:sp>
      <p:sp>
        <p:nvSpPr>
          <p:cNvPr id="40" name="Oval 39"/>
          <p:cNvSpPr/>
          <p:nvPr/>
        </p:nvSpPr>
        <p:spPr>
          <a:xfrm>
            <a:off x="4928616" y="2980944"/>
            <a:ext cx="73152" cy="73152"/>
          </a:xfrm>
          <a:prstGeom prst="ellipse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74920" y="2907792"/>
            <a:ext cx="36576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2E3C"/>
                </a:solidFill>
                <a:latin typeface="Calibri"/>
              </a:defRPr>
            </a:pPr>
            <a:r>
              <a:t>Research on workforce trends for dataset value ranges</a:t>
            </a:r>
          </a:p>
        </p:txBody>
      </p:sp>
      <p:sp>
        <p:nvSpPr>
          <p:cNvPr id="42" name="Oval 41"/>
          <p:cNvSpPr/>
          <p:nvPr/>
        </p:nvSpPr>
        <p:spPr>
          <a:xfrm>
            <a:off x="4928616" y="3310128"/>
            <a:ext cx="73152" cy="73152"/>
          </a:xfrm>
          <a:prstGeom prst="ellipse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74920" y="3236976"/>
            <a:ext cx="36576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2E3C"/>
                </a:solidFill>
                <a:latin typeface="Calibri"/>
              </a:defRPr>
            </a:pPr>
            <a:r>
              <a:t>EDA interpretation — supply-demand pattern analysis</a:t>
            </a:r>
          </a:p>
        </p:txBody>
      </p:sp>
      <p:sp>
        <p:nvSpPr>
          <p:cNvPr id="44" name="Oval 43"/>
          <p:cNvSpPr/>
          <p:nvPr/>
        </p:nvSpPr>
        <p:spPr>
          <a:xfrm>
            <a:off x="4928616" y="3639312"/>
            <a:ext cx="73152" cy="73152"/>
          </a:xfrm>
          <a:prstGeom prst="ellipse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74920" y="3566160"/>
            <a:ext cx="36576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2E3C"/>
                </a:solidFill>
                <a:latin typeface="Calibri"/>
              </a:defRPr>
            </a:pPr>
            <a:r>
              <a:t>Industry growth rate research &amp; attrition benchmarks</a:t>
            </a:r>
          </a:p>
        </p:txBody>
      </p:sp>
      <p:sp>
        <p:nvSpPr>
          <p:cNvPr id="46" name="Oval 45"/>
          <p:cNvSpPr/>
          <p:nvPr/>
        </p:nvSpPr>
        <p:spPr>
          <a:xfrm>
            <a:off x="4928616" y="3968496"/>
            <a:ext cx="73152" cy="73152"/>
          </a:xfrm>
          <a:prstGeom prst="ellipse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74920" y="3895344"/>
            <a:ext cx="36576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2E3C"/>
                </a:solidFill>
                <a:latin typeface="Calibri"/>
              </a:defRPr>
            </a:pPr>
            <a:r>
              <a:t>Top skills curation per industry from job market data</a:t>
            </a:r>
          </a:p>
        </p:txBody>
      </p:sp>
      <p:sp>
        <p:nvSpPr>
          <p:cNvPr id="48" name="Oval 47"/>
          <p:cNvSpPr/>
          <p:nvPr/>
        </p:nvSpPr>
        <p:spPr>
          <a:xfrm>
            <a:off x="4928616" y="4297680"/>
            <a:ext cx="73152" cy="73152"/>
          </a:xfrm>
          <a:prstGeom prst="ellipse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74920" y="4224528"/>
            <a:ext cx="36576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2E3C"/>
                </a:solidFill>
                <a:latin typeface="Calibri"/>
              </a:defRPr>
            </a:pPr>
            <a:r>
              <a:t>Presentation design, slide structure &amp; content writing</a:t>
            </a:r>
          </a:p>
        </p:txBody>
      </p:sp>
      <p:sp>
        <p:nvSpPr>
          <p:cNvPr id="50" name="Oval 49"/>
          <p:cNvSpPr/>
          <p:nvPr/>
        </p:nvSpPr>
        <p:spPr>
          <a:xfrm>
            <a:off x="4928616" y="4626864"/>
            <a:ext cx="73152" cy="73152"/>
          </a:xfrm>
          <a:prstGeom prst="ellipse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74920" y="4553712"/>
            <a:ext cx="36576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2E3C"/>
                </a:solidFill>
                <a:latin typeface="Calibri"/>
              </a:defRPr>
            </a:pPr>
            <a:r>
              <a:t>Quality assurance, peer review &amp; final checks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4224528" cy="39776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39319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C49A"/>
                </a:solidFill>
                <a:latin typeface="Calibri"/>
              </a:defRPr>
            </a:pPr>
            <a:r>
              <a:t>WHAT WE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749040" cy="27432"/>
          </a:xfrm>
          <a:prstGeom prst="rect">
            <a:avLst/>
          </a:prstGeom>
          <a:solidFill>
            <a:srgbClr val="1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256032" cy="256032"/>
          </a:xfrm>
          <a:prstGeom prst="rect">
            <a:avLst/>
          </a:prstGeom>
          <a:solidFill>
            <a:srgbClr val="1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C49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1453896"/>
            <a:ext cx="3584448" cy="3291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FFFFFF"/>
                </a:solidFill>
                <a:latin typeface="Calibri"/>
              </a:defRPr>
            </a:pPr>
            <a:r>
              <a:t>End-to-end workforce intelligence platform — not a generic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81328"/>
            <a:ext cx="256032" cy="256032"/>
          </a:xfrm>
          <a:prstGeom prst="rect">
            <a:avLst/>
          </a:prstGeom>
          <a:solidFill>
            <a:srgbClr val="1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C49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1853896"/>
            <a:ext cx="3584448" cy="3291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FFFFFF"/>
                </a:solidFill>
                <a:latin typeface="Calibri"/>
              </a:defRPr>
            </a:pPr>
            <a:r>
              <a:t>Rule-based Explainable AI — every prediction is transparent &amp; traceable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1328"/>
            <a:ext cx="256032" cy="256032"/>
          </a:xfrm>
          <a:prstGeom prst="rect">
            <a:avLst/>
          </a:prstGeom>
          <a:solidFill>
            <a:srgbClr val="1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C49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2253896"/>
            <a:ext cx="3584448" cy="3291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FFFFFF"/>
                </a:solidFill>
                <a:latin typeface="Calibri"/>
              </a:defRPr>
            </a:pPr>
            <a:r>
              <a:t>Dual dashboards: Industry planners + Student career guidance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81328"/>
            <a:ext cx="256032" cy="256032"/>
          </a:xfrm>
          <a:prstGeom prst="rect">
            <a:avLst/>
          </a:prstGeom>
          <a:solidFill>
            <a:srgbClr val="1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C49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" y="2653896"/>
            <a:ext cx="3584448" cy="3291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FFFFFF"/>
                </a:solidFill>
                <a:latin typeface="Calibri"/>
              </a:defRPr>
            </a:pPr>
            <a:r>
              <a:t>Company comparison with deterministic, seed-based metrics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81328"/>
            <a:ext cx="256032" cy="256032"/>
          </a:xfrm>
          <a:prstGeom prst="rect">
            <a:avLst/>
          </a:prstGeom>
          <a:solidFill>
            <a:srgbClr val="1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C49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" y="3053896"/>
            <a:ext cx="3584448" cy="3291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FFFFFF"/>
                </a:solidFill>
                <a:latin typeface="Calibri"/>
              </a:defRPr>
            </a:pPr>
            <a:r>
              <a:t>Resume ATS analyzer with 3-tier skill gap detection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81328"/>
            <a:ext cx="256032" cy="256032"/>
          </a:xfrm>
          <a:prstGeom prst="rect">
            <a:avLst/>
          </a:prstGeom>
          <a:solidFill>
            <a:srgbClr val="1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C49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3453896"/>
            <a:ext cx="3584448" cy="3291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FFFFFF"/>
                </a:solidFill>
                <a:latin typeface="Calibri"/>
              </a:defRPr>
            </a:pPr>
            <a:r>
              <a:t>JWT auth with role-based access control (RBAC)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81328"/>
            <a:ext cx="256032" cy="256032"/>
          </a:xfrm>
          <a:prstGeom prst="rect">
            <a:avLst/>
          </a:prstGeom>
          <a:solidFill>
            <a:srgbClr val="1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C49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" y="3853896"/>
            <a:ext cx="3584448" cy="3291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FFFFFF"/>
                </a:solidFill>
                <a:latin typeface="Calibri"/>
              </a:defRPr>
            </a:pPr>
            <a:r>
              <a:t>Percentile normalisation prevents misleading extremes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81328"/>
            <a:ext cx="256032" cy="256032"/>
          </a:xfrm>
          <a:prstGeom prst="rect">
            <a:avLst/>
          </a:prstGeom>
          <a:solidFill>
            <a:srgbClr val="1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C49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" y="4253896"/>
            <a:ext cx="3584448" cy="3291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0">
                <a:solidFill>
                  <a:srgbClr val="FFFFFF"/>
                </a:solidFill>
                <a:latin typeface="Calibri"/>
              </a:defRPr>
            </a:pPr>
            <a:r>
              <a:t>Same inputs = same outputs — fully deterministic &amp; reproducible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36592" y="914400"/>
            <a:ext cx="4087368" cy="39776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64608" y="1024128"/>
            <a:ext cx="379476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C49A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64608" y="1371600"/>
            <a:ext cx="3657600" cy="27432"/>
          </a:xfrm>
          <a:prstGeom prst="rect">
            <a:avLst/>
          </a:prstGeom>
          <a:solidFill>
            <a:srgbClr val="1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82896" y="1508760"/>
            <a:ext cx="292608" cy="292608"/>
          </a:xfrm>
          <a:prstGeom prst="ellipse">
            <a:avLst/>
          </a:prstGeom>
          <a:solidFill>
            <a:srgbClr val="1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C49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66944" y="1490472"/>
            <a:ext cx="3310128" cy="2468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Real Job Board Integration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66944" y="1755648"/>
            <a:ext cx="3310128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8EC8DA"/>
                </a:solidFill>
                <a:latin typeface="Calibri"/>
              </a:defRPr>
            </a:pPr>
            <a:r>
              <a:t>Connect with LinkedIn, Indeed APIs for live job data</a:t>
            </a:r>
          </a:p>
        </p:txBody>
      </p:sp>
      <p:sp>
        <p:nvSpPr>
          <p:cNvPr id="29" name="Oval 28"/>
          <p:cNvSpPr/>
          <p:nvPr/>
        </p:nvSpPr>
        <p:spPr>
          <a:xfrm>
            <a:off x="4882896" y="2057400"/>
            <a:ext cx="292608" cy="292608"/>
          </a:xfrm>
          <a:prstGeom prst="ellipse">
            <a:avLst/>
          </a:prstGeom>
          <a:solidFill>
            <a:srgbClr val="1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C49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66944" y="2039112"/>
            <a:ext cx="3310128" cy="2468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Resume Versioning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66944" y="2304288"/>
            <a:ext cx="3310128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8EC8DA"/>
                </a:solidFill>
                <a:latin typeface="Calibri"/>
              </a:defRPr>
            </a:pPr>
            <a:r>
              <a:t>Track how different resume iterations perform over time</a:t>
            </a:r>
          </a:p>
        </p:txBody>
      </p:sp>
      <p:sp>
        <p:nvSpPr>
          <p:cNvPr id="32" name="Oval 31"/>
          <p:cNvSpPr/>
          <p:nvPr/>
        </p:nvSpPr>
        <p:spPr>
          <a:xfrm>
            <a:off x="4882896" y="2606040"/>
            <a:ext cx="292608" cy="292608"/>
          </a:xfrm>
          <a:prstGeom prst="ellipse">
            <a:avLst/>
          </a:prstGeom>
          <a:solidFill>
            <a:srgbClr val="1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C49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66944" y="2587752"/>
            <a:ext cx="3310128" cy="2468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Skill Similarity Mapping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66944" y="2852928"/>
            <a:ext cx="3310128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8EC8DA"/>
                </a:solidFill>
                <a:latin typeface="Calibri"/>
              </a:defRPr>
            </a:pPr>
            <a:r>
              <a:t>Visualise how current skills align with market demand</a:t>
            </a:r>
          </a:p>
        </p:txBody>
      </p:sp>
      <p:sp>
        <p:nvSpPr>
          <p:cNvPr id="35" name="Oval 34"/>
          <p:cNvSpPr/>
          <p:nvPr/>
        </p:nvSpPr>
        <p:spPr>
          <a:xfrm>
            <a:off x="4882896" y="3154680"/>
            <a:ext cx="292608" cy="292608"/>
          </a:xfrm>
          <a:prstGeom prst="ellipse">
            <a:avLst/>
          </a:prstGeom>
          <a:solidFill>
            <a:srgbClr val="1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C49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66944" y="3136392"/>
            <a:ext cx="3310128" cy="2468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Admin Analytics Panel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66944" y="3401568"/>
            <a:ext cx="3310128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8EC8DA"/>
                </a:solidFill>
                <a:latin typeface="Calibri"/>
              </a:defRPr>
            </a:pPr>
            <a:r>
              <a:t>Insights for institutional or platform administrators</a:t>
            </a:r>
          </a:p>
        </p:txBody>
      </p:sp>
      <p:sp>
        <p:nvSpPr>
          <p:cNvPr id="38" name="Oval 37"/>
          <p:cNvSpPr/>
          <p:nvPr/>
        </p:nvSpPr>
        <p:spPr>
          <a:xfrm>
            <a:off x="4882896" y="3703320"/>
            <a:ext cx="292608" cy="292608"/>
          </a:xfrm>
          <a:prstGeom prst="ellipse">
            <a:avLst/>
          </a:prstGeom>
          <a:solidFill>
            <a:srgbClr val="1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C49A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66944" y="3685032"/>
            <a:ext cx="3310128" cy="2468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Cloud Deployment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66944" y="3950208"/>
            <a:ext cx="3310128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8EC8DA"/>
                </a:solidFill>
                <a:latin typeface="Calibri"/>
              </a:defRPr>
            </a:pPr>
            <a:r>
              <a:t>Production deployment on AWS / GCP / Azure</a:t>
            </a:r>
          </a:p>
        </p:txBody>
      </p:sp>
      <p:sp>
        <p:nvSpPr>
          <p:cNvPr id="41" name="Oval 40"/>
          <p:cNvSpPr/>
          <p:nvPr/>
        </p:nvSpPr>
        <p:spPr>
          <a:xfrm>
            <a:off x="4882896" y="4251960"/>
            <a:ext cx="292608" cy="292608"/>
          </a:xfrm>
          <a:prstGeom prst="ellipse">
            <a:avLst/>
          </a:prstGeom>
          <a:solidFill>
            <a:srgbClr val="1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C49A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66944" y="4233672"/>
            <a:ext cx="3310128" cy="2468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ML Model Upgrade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66944" y="4498848"/>
            <a:ext cx="3310128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8EC8DA"/>
                </a:solidFill>
                <a:latin typeface="Calibri"/>
              </a:defRPr>
            </a:pPr>
            <a:r>
              <a:t>Replace LinearRegression with LSTM for better forecasting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C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4855464"/>
            <a:ext cx="91440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B2C4A"/>
                </a:solidFill>
                <a:latin typeface="Calibri"/>
              </a:defRPr>
            </a:pPr>
            <a:r>
              <a:t>Workforce Pipeline Risk Forecasting System · Keshav Agarwal &amp; Harsh Tiwari · Section 1CSE22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Workforce Pipeline Risk Forecasting System</dc:title>
  <dc:subject>PptxGenJS Presentation</dc:subject>
  <dc:creator>Keshav Agarwal &amp; Harsh Tiwari</dc:creator>
  <cp:lastModifiedBy>Keshav Agarwal &amp; Harsh Tiwari</cp:lastModifiedBy>
  <cp:revision>1</cp:revision>
  <dcterms:created xsi:type="dcterms:W3CDTF">2026-03-22T00:29:23Z</dcterms:created>
  <dcterms:modified xsi:type="dcterms:W3CDTF">2026-03-22T00:29:23Z</dcterms:modified>
</cp:coreProperties>
</file>